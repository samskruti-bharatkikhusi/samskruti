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Box Sales</c:v>
                </c:pt>
              </c:strCache>
            </c:strRef>
          </c:tx>
          <c:spPr>
            <a:solidFill>
              <a:srgbClr val="C8652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45</c:v>
                </c:pt>
                <c:pt idx="2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81-4AD7-8435-A777080DF8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Digital Platform</c:v>
                </c:pt>
              </c:strCache>
            </c:strRef>
          </c:tx>
          <c:spPr>
            <a:solidFill>
              <a:srgbClr val="E8A87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30</c:v>
                </c:pt>
                <c:pt idx="2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81-4AD7-8435-A777080DF8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B2B &amp; Experiences</c:v>
                </c:pt>
              </c:strCache>
            </c:strRef>
          </c:tx>
          <c:spPr>
            <a:solidFill>
              <a:srgbClr val="2C1F12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25</c:v>
                </c:pt>
                <c:pt idx="2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481-4AD7-8435-A777080DF8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7A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DD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7A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A372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AF7F3"/>
    </a:solidFill>
    <a:ln w="6350" cap="flat">
      <a:solidFill>
        <a:srgbClr val="E8DDD1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4881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0F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-777240"/>
            <a:ext cx="3474720" cy="3474720"/>
          </a:xfrm>
          <a:prstGeom prst="ellipse">
            <a:avLst/>
          </a:prstGeom>
          <a:solidFill>
            <a:srgbClr val="281508"/>
          </a:solidFill>
          <a:ln w="12700">
            <a:solidFill>
              <a:srgbClr val="2815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754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culture has a memory.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is losing hers.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SamsKruti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21208" y="226771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संस्कृति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816352"/>
            <a:ext cx="50292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98094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showing India.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2918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Helping people feel India.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45720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5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INVESTOR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is losing touch with itself.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2743200" cy="294436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874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04088" y="2331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Culture reduced to content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04088" y="2779776"/>
            <a:ext cx="27432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926080"/>
            <a:ext cx="23957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Cities become checklists. Monuments become photo-ops. The soul of a place — its stories, its people, its rituals — is never transmitted.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1568" y="1719072"/>
            <a:ext cx="2743200" cy="294436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2736" y="1874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02736" y="2331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lost to surfaces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02736" y="2779776"/>
            <a:ext cx="27432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02736" y="2926080"/>
            <a:ext cx="23957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artisan who carries a 400-year tradition. The ghat that holds a city's spiritual memory. These disappear when there is no one to tell their story.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0216" y="1719072"/>
            <a:ext cx="2743200" cy="294436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1384" y="1874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01384" y="2331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custodian of cultural memory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01384" y="2779776"/>
            <a:ext cx="27432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1384" y="2926080"/>
            <a:ext cx="23957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is no single platform that holds India's cultural depth — not as tourism, but as living, breathing, storied knowledge.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0F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HOW SAMSKRUTI TELLS A STORY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12648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6511" y="713232"/>
            <a:ext cx="5120640" cy="4096512"/>
          </a:xfrm>
          <a:prstGeom prst="rect">
            <a:avLst/>
          </a:prstGeom>
          <a:solidFill>
            <a:srgbClr val="281508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601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Varanasi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35331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Weaver of Banaras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9808" y="1865376"/>
            <a:ext cx="292608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11680"/>
            <a:ext cx="464515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 narrow lane in </a:t>
            </a:r>
            <a:r>
              <a:rPr lang="en-US" sz="900" i="1" dirty="0" err="1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Madanpura</a:t>
            </a: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Raheem Ansari sits at a loom his grandfather built.</a:t>
            </a:r>
          </a:p>
          <a:p>
            <a:pPr marL="0" indent="0">
              <a:lnSpc>
                <a:spcPct val="155000"/>
              </a:lnSpc>
              <a:buNone/>
            </a:pPr>
            <a:endParaRPr lang="en-US" sz="100" i="1" dirty="0">
              <a:solidFill>
                <a:srgbClr val="8C7A66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lnSpc>
                <a:spcPct val="155000"/>
              </a:lnSpc>
              <a:buNone/>
            </a:pP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weaves Banarasi silk — but not just silk.</a:t>
            </a:r>
          </a:p>
          <a:p>
            <a:pPr marL="0" indent="0">
              <a:lnSpc>
                <a:spcPct val="155000"/>
              </a:lnSpc>
              <a:buNone/>
            </a:pPr>
            <a:endParaRPr lang="en-US" sz="100" i="1" dirty="0">
              <a:solidFill>
                <a:srgbClr val="8C7A66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motif carries the memory of centuries.</a:t>
            </a:r>
          </a:p>
          <a:p>
            <a:pPr marL="0" indent="0">
              <a:buNone/>
            </a:pP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patterns echo ancient Indian traditions. Others bear the delicate influence of Persian designs shaped during the Mughal Empire. None of it is written down.</a:t>
            </a:r>
          </a:p>
          <a:p>
            <a:pPr marL="0" indent="0">
              <a:lnSpc>
                <a:spcPct val="155000"/>
              </a:lnSpc>
              <a:buNone/>
            </a:pPr>
            <a:endParaRPr lang="en-US" sz="200" i="1" dirty="0">
              <a:solidFill>
                <a:srgbClr val="8C7A66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lnSpc>
                <a:spcPct val="155000"/>
              </a:lnSpc>
              <a:buNone/>
            </a:pP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learned by watching. By repeating. By remembering.</a:t>
            </a:r>
          </a:p>
          <a:p>
            <a:pPr marL="0" indent="0">
              <a:buNone/>
            </a:pP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 hands move with a rhythm that cannot be taught in classrooms.</a:t>
            </a:r>
          </a:p>
          <a:p>
            <a:pPr marL="0" indent="0">
              <a:buNone/>
            </a:pP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inherited.</a:t>
            </a:r>
          </a:p>
          <a:p>
            <a:pPr marL="0" indent="0">
              <a:buNone/>
            </a:pPr>
            <a:endParaRPr lang="en-US" sz="200" i="1" dirty="0">
              <a:solidFill>
                <a:srgbClr val="8C7A66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lnSpc>
                <a:spcPct val="155000"/>
              </a:lnSpc>
              <a:buNone/>
            </a:pP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 son is studying software engineering in Pune.</a:t>
            </a:r>
          </a:p>
          <a:p>
            <a:pPr marL="0" indent="0">
              <a:buNone/>
            </a:pP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Raheem knows — not with fear, but with quiet acceptance </a:t>
            </a:r>
          </a:p>
          <a:p>
            <a:pPr marL="0" indent="0">
              <a:buNone/>
            </a:pP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—that when he is gone, something more than a skill may disappear.</a:t>
            </a:r>
          </a:p>
          <a:p>
            <a:pPr marL="0" indent="0">
              <a:lnSpc>
                <a:spcPct val="155000"/>
              </a:lnSpc>
              <a:buNone/>
            </a:pP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 no machine will know why a motif curves the way it does.</a:t>
            </a:r>
          </a:p>
          <a:p>
            <a:pPr marL="0" indent="0">
              <a:buNone/>
            </a:pP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algorithm will remember what it meant.</a:t>
            </a:r>
          </a:p>
          <a:p>
            <a:pPr marL="0" indent="0">
              <a:buNone/>
            </a:pP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he weaves is not just fabric.</a:t>
            </a:r>
          </a:p>
          <a:p>
            <a:pPr marL="0" indent="0">
              <a:buNone/>
            </a:pPr>
            <a:endParaRPr lang="en-US" sz="200" i="1" dirty="0">
              <a:solidFill>
                <a:srgbClr val="8C7A66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memory —</a:t>
            </a:r>
          </a:p>
          <a:p>
            <a:pPr marL="0" indent="0">
              <a:buNone/>
            </a:pP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threaded, lived, and slowly fading.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97880" y="8046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most platforms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 rot="2700000">
            <a:off x="5897880" y="1188720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08192" y="11155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Banarasi saree — buy here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rot="2700000">
            <a:off x="5897880" y="157276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08192" y="14996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Weaving district of Varanasi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 rot="2700000">
            <a:off x="5897880" y="1956816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18836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silk shops, rated 4.2★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97880" y="2336292"/>
            <a:ext cx="1312164" cy="0"/>
          </a:xfrm>
          <a:prstGeom prst="line">
            <a:avLst/>
          </a:prstGeom>
          <a:noFill/>
          <a:ln w="6350">
            <a:solidFill>
              <a:srgbClr val="E8DD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7260336" y="230428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74636" y="2336292"/>
            <a:ext cx="1312164" cy="0"/>
          </a:xfrm>
          <a:prstGeom prst="line">
            <a:avLst/>
          </a:prstGeom>
          <a:noFill/>
          <a:ln w="6350">
            <a:solidFill>
              <a:srgbClr val="E8DD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25420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SamsKruti shows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 rot="2700000">
            <a:off x="5897880" y="294436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28712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man. The motif. The meaning.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rot="2700000">
            <a:off x="5897880" y="3383280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08192" y="3310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pattern is a 400-year memory.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rot="2700000">
            <a:off x="5897880" y="3822192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08192" y="3749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disappears when Raheem is gone.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677156"/>
            <a:ext cx="1517904" cy="0"/>
          </a:xfrm>
          <a:prstGeom prst="line">
            <a:avLst/>
          </a:prstGeom>
          <a:noFill/>
          <a:ln w="6350">
            <a:solidFill>
              <a:srgbClr val="E8DDD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2700000">
            <a:off x="2071116" y="4645152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85416" y="4677156"/>
            <a:ext cx="1517904" cy="0"/>
          </a:xfrm>
          <a:prstGeom prst="line">
            <a:avLst/>
          </a:prstGeom>
          <a:noFill/>
          <a:ln w="6350">
            <a:solidFill>
              <a:srgbClr val="E8DD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02920" y="480974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difference between showing India and helping people understand her.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0F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800" i="1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cannot be understood through</a:t>
            </a:r>
            <a:endParaRPr lang="en-US" sz="2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800" i="1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highlights. It has to be experienced</a:t>
            </a:r>
            <a:endParaRPr lang="en-US" sz="2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800" i="1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 stories, people, and context.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3232404"/>
            <a:ext cx="1975104" cy="0"/>
          </a:xfrm>
          <a:prstGeom prst="line">
            <a:avLst/>
          </a:prstGeom>
          <a:noFill/>
          <a:ln w="6350">
            <a:solidFill>
              <a:srgbClr val="E8DD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528316" y="3200400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42616" y="3232404"/>
            <a:ext cx="1975104" cy="0"/>
          </a:xfrm>
          <a:prstGeom prst="line">
            <a:avLst/>
          </a:prstGeom>
          <a:noFill/>
          <a:ln w="6350">
            <a:solidFill>
              <a:srgbClr val="E8DD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56432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8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SamsKruti is not a travel platform.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8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building the cultural memory layer of India.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45262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SAMSKRUTI THESIS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SamsKruti — India's cultural memory layer.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4069080" cy="1353312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810512"/>
            <a:ext cx="347472" cy="347472"/>
          </a:xfrm>
          <a:prstGeom prst="ellipse">
            <a:avLst/>
          </a:prstGeom>
          <a:solidFill>
            <a:srgbClr val="C8652A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" y="184708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16152" y="1810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keeper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16152" y="2130552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Preserves cultural stories, rituals, and artisan knowledge before they vanish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18888" y="1627632"/>
            <a:ext cx="4069080" cy="1353312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0056" y="1810512"/>
            <a:ext cx="347472" cy="347472"/>
          </a:xfrm>
          <a:prstGeom prst="ellipse">
            <a:avLst/>
          </a:prstGeom>
          <a:solidFill>
            <a:srgbClr val="C8652A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4628" y="184708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32120" y="1810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guide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32120" y="2130552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Helps someone not just visit a city, but genuinely know 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200400"/>
            <a:ext cx="4069080" cy="1353312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383280"/>
            <a:ext cx="347472" cy="347472"/>
          </a:xfrm>
          <a:prstGeom prst="ellipse">
            <a:avLst/>
          </a:prstGeom>
          <a:solidFill>
            <a:srgbClr val="C8652A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" y="341985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16152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archive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16152" y="3703320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Connects modern India to its layered, living cultural roots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18888" y="3200400"/>
            <a:ext cx="4069080" cy="1353312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0056" y="3383280"/>
            <a:ext cx="347472" cy="347472"/>
          </a:xfrm>
          <a:prstGeom prst="ellipse">
            <a:avLst/>
          </a:prstGeom>
          <a:solidFill>
            <a:srgbClr val="C8652A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4628" y="341985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Artisan bridge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3703320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Surfaces the makers, thinkers, and tradition-holders invisible to the world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CITY FRAMEWORK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city. Four dimensions. One story.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4069080" cy="1444752"/>
          </a:xfrm>
          <a:prstGeom prst="rect">
            <a:avLst/>
          </a:prstGeom>
          <a:solidFill>
            <a:srgbClr val="281508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373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7282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157984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Famous dishes, street food, recipes and the stories behind them. What a city eats tells you who it 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18888" y="1572768"/>
            <a:ext cx="4069080" cy="1444752"/>
          </a:xfrm>
          <a:prstGeom prst="rect">
            <a:avLst/>
          </a:prstGeom>
          <a:solidFill>
            <a:srgbClr val="281508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01768" y="17373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50408" y="17282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Heritage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01768" y="2157984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Sites, monuments, and traditions worth visiting — curated with context, not just location pins.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236976"/>
            <a:ext cx="4069080" cy="1444752"/>
          </a:xfrm>
          <a:prstGeom prst="rect">
            <a:avLst/>
          </a:prstGeom>
          <a:solidFill>
            <a:srgbClr val="281508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4015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3924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&amp; Craft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82219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artisans, weaving traditions, pottery, music — the hands that carry culture forward.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18888" y="3236976"/>
            <a:ext cx="4069080" cy="1444752"/>
          </a:xfrm>
          <a:prstGeom prst="rect">
            <a:avLst/>
          </a:prstGeom>
          <a:solidFill>
            <a:srgbClr val="281508"/>
          </a:solidFill>
          <a:ln w="6350">
            <a:solidFill>
              <a:srgbClr val="C865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34015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50408" y="33924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Treasures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01768" y="382219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Unseen places, forgotten stories, and local secrets that no travel guide has ever written about.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appetite for authentic India is at its peak.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743200" cy="166420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5727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$32.7B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04088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HERITAGE TOURISM (2024)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04088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$57B by 2033 · 6.8% CAGR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1568" y="1417320"/>
            <a:ext cx="2743200" cy="166420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2736" y="15727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02736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SHARE FROM CULTURAL HERITAGE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02736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largest revenue driver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0216" y="1417320"/>
            <a:ext cx="2743200" cy="166420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1384" y="15727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$2.5B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501384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8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CREATOR ECONOMY (2025)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501384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$5.9B by 2027 · 22% CAGR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305556"/>
            <a:ext cx="1060704" cy="0"/>
          </a:xfrm>
          <a:prstGeom prst="line">
            <a:avLst/>
          </a:prstGeom>
          <a:noFill/>
          <a:ln w="6350">
            <a:solidFill>
              <a:srgbClr val="E8DD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1613916" y="3273552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28216" y="3305556"/>
            <a:ext cx="1060704" cy="0"/>
          </a:xfrm>
          <a:prstGeom prst="line">
            <a:avLst/>
          </a:prstGeom>
          <a:noFill/>
          <a:ln w="6350">
            <a:solidFill>
              <a:srgbClr val="E8DD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93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C1F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tailwinds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 rot="2700000">
            <a:off x="502920" y="385876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77647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Post-pandemic shift to meaning-driven, experiential travel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rot="2700000">
            <a:off x="4818888" y="385876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77647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initiatives: Dekho Apna Desh, Swadesh Darshan, Adopt a Heritage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 rot="2700000">
            <a:off x="502920" y="427024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18795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600M+ internet users; vernacular &amp; regional content booming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 rot="2700000">
            <a:off x="4818888" y="427024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418795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Urban millennials (31–50) are fastest-growing traveler segment at 7.4% CAGR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AUDIENCE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audience segments. One common need.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2743200" cy="331012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44752"/>
            <a:ext cx="2743200" cy="594360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508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Diaspora (NRI)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2139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₹₹₹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" y="2487168"/>
            <a:ext cx="292608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667512" y="267004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5877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emotional connection to India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rot="2700000">
            <a:off x="667512" y="3145536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0632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Want to reconnect with roots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 rot="2700000">
            <a:off x="667512" y="3621024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53872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spending power, premium buyers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01568" y="1444752"/>
            <a:ext cx="2743200" cy="331012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01568" y="1444752"/>
            <a:ext cx="2743200" cy="594360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1508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Domestic Urban Indians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2139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₹₹₹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66160" y="2487168"/>
            <a:ext cx="292608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3566160" y="267004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85616" y="25877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31–50 age group is fastest growing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rot="2700000">
            <a:off x="3566160" y="3145536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85616" y="30632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Seeking meaningful experiences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 rot="2700000">
            <a:off x="3566160" y="3621024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85616" y="353872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Connected, digitally savvy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00216" y="1444752"/>
            <a:ext cx="2743200" cy="331012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0216" y="1444752"/>
            <a:ext cx="2743200" cy="594360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4808" y="1508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Tourists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64808" y="2139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$$$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64808" y="2487168"/>
            <a:ext cx="292608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2700000">
            <a:off x="6464808" y="267004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84264" y="25877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is the #1 cultural destination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 rot="2700000">
            <a:off x="6464808" y="3145536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84264" y="30632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 guided, trustworthy platform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 rot="2700000">
            <a:off x="6464808" y="3621024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84264" y="353872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experience seekers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one is doing what we do.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2103120" cy="38404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606040" y="1508760"/>
            <a:ext cx="1572768" cy="38404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155448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CULTURAL DEPTH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178808" y="1508760"/>
            <a:ext cx="1572768" cy="38404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0248" y="155448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CITY FRAMEWORK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751576" y="1508760"/>
            <a:ext cx="1572768" cy="38404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43016" y="155448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ARTISAN SUPPORT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324344" y="1508760"/>
            <a:ext cx="1572768" cy="38404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15784" y="155448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PHYGITAL EXP.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02920" y="1892808"/>
            <a:ext cx="2103120" cy="45720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892808"/>
            <a:ext cx="54864" cy="457200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198424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SamsKruti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06040" y="1892808"/>
            <a:ext cx="1572768" cy="45720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19842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178808" y="1892808"/>
            <a:ext cx="1572768" cy="45720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78808" y="19842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51576" y="1892808"/>
            <a:ext cx="1572768" cy="45720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51576" y="19842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24344" y="1892808"/>
            <a:ext cx="1572768" cy="45720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24344" y="19842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920" y="2350008"/>
            <a:ext cx="2103120" cy="457200"/>
          </a:xfrm>
          <a:prstGeom prst="rect">
            <a:avLst/>
          </a:prstGeom>
          <a:solidFill>
            <a:srgbClr val="F0EBE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44144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MakeMyTrip / TripAdvisor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606040" y="2350008"/>
            <a:ext cx="1572768" cy="457200"/>
          </a:xfrm>
          <a:prstGeom prst="rect">
            <a:avLst/>
          </a:prstGeom>
          <a:solidFill>
            <a:srgbClr val="F0EBE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06040" y="24414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178808" y="2350008"/>
            <a:ext cx="1572768" cy="457200"/>
          </a:xfrm>
          <a:prstGeom prst="rect">
            <a:avLst/>
          </a:prstGeom>
          <a:solidFill>
            <a:srgbClr val="F0EBE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78808" y="24414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51576" y="2350008"/>
            <a:ext cx="1572768" cy="457200"/>
          </a:xfrm>
          <a:prstGeom prst="rect">
            <a:avLst/>
          </a:prstGeom>
          <a:solidFill>
            <a:srgbClr val="F0EBE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51576" y="24414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24344" y="2350008"/>
            <a:ext cx="1572768" cy="457200"/>
          </a:xfrm>
          <a:prstGeom prst="rect">
            <a:avLst/>
          </a:prstGeom>
          <a:solidFill>
            <a:srgbClr val="F0EBE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24344" y="24414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2920" y="2807208"/>
            <a:ext cx="2103120" cy="457200"/>
          </a:xfrm>
          <a:prstGeom prst="rect">
            <a:avLst/>
          </a:prstGeom>
          <a:solidFill>
            <a:srgbClr val="FAF7F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289864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YouTube Creators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606040" y="2807208"/>
            <a:ext cx="1572768" cy="457200"/>
          </a:xfrm>
          <a:prstGeom prst="rect">
            <a:avLst/>
          </a:prstGeom>
          <a:solidFill>
            <a:srgbClr val="FAF7F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28986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178808" y="2807208"/>
            <a:ext cx="1572768" cy="457200"/>
          </a:xfrm>
          <a:prstGeom prst="rect">
            <a:avLst/>
          </a:prstGeom>
          <a:solidFill>
            <a:srgbClr val="FAF7F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78808" y="28986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751576" y="2807208"/>
            <a:ext cx="1572768" cy="457200"/>
          </a:xfrm>
          <a:prstGeom prst="rect">
            <a:avLst/>
          </a:prstGeom>
          <a:solidFill>
            <a:srgbClr val="FAF7F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51576" y="28986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24344" y="2807208"/>
            <a:ext cx="1572768" cy="457200"/>
          </a:xfrm>
          <a:prstGeom prst="rect">
            <a:avLst/>
          </a:prstGeom>
          <a:solidFill>
            <a:srgbClr val="FAF7F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24344" y="28986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02920" y="3264408"/>
            <a:ext cx="2103120" cy="457200"/>
          </a:xfrm>
          <a:prstGeom prst="rect">
            <a:avLst/>
          </a:prstGeom>
          <a:solidFill>
            <a:srgbClr val="F0EBE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335584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 Inspirations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606040" y="3264408"/>
            <a:ext cx="1572768" cy="457200"/>
          </a:xfrm>
          <a:prstGeom prst="rect">
            <a:avLst/>
          </a:prstGeom>
          <a:solidFill>
            <a:srgbClr val="F0EBE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06040" y="33558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178808" y="3264408"/>
            <a:ext cx="1572768" cy="457200"/>
          </a:xfrm>
          <a:prstGeom prst="rect">
            <a:avLst/>
          </a:prstGeom>
          <a:solidFill>
            <a:srgbClr val="F0EBE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78808" y="33558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751576" y="3264408"/>
            <a:ext cx="1572768" cy="457200"/>
          </a:xfrm>
          <a:prstGeom prst="rect">
            <a:avLst/>
          </a:prstGeom>
          <a:solidFill>
            <a:srgbClr val="F0EBE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51576" y="33558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324344" y="3264408"/>
            <a:ext cx="1572768" cy="457200"/>
          </a:xfrm>
          <a:prstGeom prst="rect">
            <a:avLst/>
          </a:prstGeom>
          <a:solidFill>
            <a:srgbClr val="F0EBE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24344" y="33558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02920" y="3721608"/>
            <a:ext cx="2103120" cy="457200"/>
          </a:xfrm>
          <a:prstGeom prst="rect">
            <a:avLst/>
          </a:prstGeom>
          <a:solidFill>
            <a:srgbClr val="FAF7F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" y="381304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Tourism Boards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606040" y="3721608"/>
            <a:ext cx="1572768" cy="457200"/>
          </a:xfrm>
          <a:prstGeom prst="rect">
            <a:avLst/>
          </a:prstGeom>
          <a:solidFill>
            <a:srgbClr val="FAF7F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06040" y="38130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178808" y="3721608"/>
            <a:ext cx="1572768" cy="457200"/>
          </a:xfrm>
          <a:prstGeom prst="rect">
            <a:avLst/>
          </a:prstGeom>
          <a:solidFill>
            <a:srgbClr val="FAF7F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78808" y="38130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751576" y="3721608"/>
            <a:ext cx="1572768" cy="457200"/>
          </a:xfrm>
          <a:prstGeom prst="rect">
            <a:avLst/>
          </a:prstGeom>
          <a:solidFill>
            <a:srgbClr val="FAF7F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51576" y="38130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324344" y="3721608"/>
            <a:ext cx="1572768" cy="457200"/>
          </a:xfrm>
          <a:prstGeom prst="rect">
            <a:avLst/>
          </a:prstGeom>
          <a:solidFill>
            <a:srgbClr val="FAF7F3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24344" y="38130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02920" y="464515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SamsKruti is the only platform combining narrative storytelling, city-by-city framework, artisan marketplace and physical experiences.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PROOF OF CONCEPT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Starting with Varanasi — the city that defines India.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1170432" cy="1170432"/>
          </a:xfrm>
          <a:prstGeom prst="ellipse">
            <a:avLst/>
          </a:prstGeom>
          <a:solidFill>
            <a:srgbClr val="281508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19072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93192" y="2834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5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BOXES TO LAUNCH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920240" y="1554480"/>
            <a:ext cx="1170432" cy="1170432"/>
          </a:xfrm>
          <a:prstGeom prst="ellipse">
            <a:avLst/>
          </a:prstGeom>
          <a:solidFill>
            <a:srgbClr val="281508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719072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10512" y="2834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5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BOXES FOR REVENUE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37560" y="1554480"/>
            <a:ext cx="1170432" cy="1170432"/>
          </a:xfrm>
          <a:prstGeom prst="ellipse">
            <a:avLst/>
          </a:prstGeom>
          <a:solidFill>
            <a:srgbClr val="281508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719072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27832" y="2834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5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BOXES FOR FEEDBACK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434840" y="1508760"/>
            <a:ext cx="4297680" cy="438912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5819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AF7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Jul–Aug 2026  ·  Launch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34840" y="2011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₹2,000 – ₹5,000  ·  target price per box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23957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inside the Varanasi box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 rot="2700000">
            <a:off x="4434840" y="276148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688336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Famous Banarasi food item or spice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 rot="2700000">
            <a:off x="4434840" y="3108960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035808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art or craft piece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rot="2700000">
            <a:off x="4434840" y="3456432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38328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Heritage guide card — Ganga, Ghats, temples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rot="2700000">
            <a:off x="4434840" y="3803904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730752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treasure story card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 rot="2700000">
            <a:off x="4434840" y="4151376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078224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QR code → SamsKruti digital platform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 rot="2700000">
            <a:off x="4434840" y="449884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425696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Handwritten narrative note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4695444"/>
            <a:ext cx="1517904" cy="0"/>
          </a:xfrm>
          <a:prstGeom prst="line">
            <a:avLst/>
          </a:prstGeom>
          <a:noFill/>
          <a:ln w="6350">
            <a:solidFill>
              <a:srgbClr val="E8DD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2700000">
            <a:off x="2071116" y="4663440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85416" y="4695444"/>
            <a:ext cx="1517904" cy="0"/>
          </a:xfrm>
          <a:prstGeom prst="line">
            <a:avLst/>
          </a:prstGeom>
          <a:noFill/>
          <a:ln w="6350">
            <a:solidFill>
              <a:srgbClr val="E8DD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828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box is not the product. It is the gateway to the SamsKruti experience.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ROADMAP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Box → Platform → Cities → Physical Spaces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2029968" cy="38404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AF7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9385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5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Jul–Dec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of Concept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651760"/>
            <a:ext cx="256032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594360" y="2834640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761488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50 Varanasi boxes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 rot="2700000">
            <a:off x="594360" y="331012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3236976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cultural narrative resonance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rot="2700000">
            <a:off x="594360" y="3785616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71246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feedback loop from 15 review boxes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 rot="2700000">
            <a:off x="594360" y="4261104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4187952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Establish pricing &amp; demand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79192" y="1481328"/>
            <a:ext cx="2029968" cy="38404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70632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70632" y="19385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5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Jan–Jun 2027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70632" y="21945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Platform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70632" y="2651760"/>
            <a:ext cx="256032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2770632" y="2834640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2761488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SamsKruti app &amp; website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rot="2700000">
            <a:off x="2770632" y="331012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71800" y="3236976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Varanasi digital guide goes live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 rot="2700000">
            <a:off x="2770632" y="3785616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1800" y="371246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QR-driven engagement from boxes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 rot="2700000">
            <a:off x="2770632" y="4261104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71800" y="4187952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Membership / subscription launch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55464" y="1481328"/>
            <a:ext cx="2029968" cy="38404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46904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46904" y="19385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5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2027–2028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46904" y="21945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to 6 Cities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946904" y="2651760"/>
            <a:ext cx="256032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4946904" y="2834640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48072" y="2761488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Ayodhya, Jaipur, Udaipur + 3 more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 rot="2700000">
            <a:off x="4946904" y="331012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8072" y="3236976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City-by-city box series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 rot="2700000">
            <a:off x="4946904" y="3785616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48072" y="371246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Artisan marketplace integration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 rot="2700000">
            <a:off x="4946904" y="4261104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48072" y="4187952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partnerships with tourism boards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031736" y="1481328"/>
            <a:ext cx="2029968" cy="384048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23176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123176" y="19385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5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2028+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23176" y="21945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Spaces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123176" y="2651760"/>
            <a:ext cx="256032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2700000">
            <a:off x="7123176" y="2834640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24344" y="2761488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SamsKruti cultural hubs at airports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 rot="2700000">
            <a:off x="7123176" y="3310128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24344" y="3236976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Flagship Experience India centres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 rot="2700000">
            <a:off x="7123176" y="3785616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24344" y="371246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VR city immersion experiences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 rot="2700000">
            <a:off x="7123176" y="4261104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24344" y="4187952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capital cultural malls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423160" y="1673352"/>
            <a:ext cx="155448" cy="0"/>
          </a:xfrm>
          <a:prstGeom prst="line">
            <a:avLst/>
          </a:prstGeom>
          <a:noFill/>
          <a:ln w="12700">
            <a:solidFill>
              <a:srgbClr val="E8DDD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99432" y="1673352"/>
            <a:ext cx="155448" cy="0"/>
          </a:xfrm>
          <a:prstGeom prst="line">
            <a:avLst/>
          </a:prstGeom>
          <a:noFill/>
          <a:ln w="12700">
            <a:solidFill>
              <a:srgbClr val="E8DDD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75704" y="1673352"/>
            <a:ext cx="155448" cy="0"/>
          </a:xfrm>
          <a:prstGeom prst="line">
            <a:avLst/>
          </a:prstGeom>
          <a:noFill/>
          <a:ln w="12700">
            <a:solidFill>
              <a:srgbClr val="E8DDD1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MODEL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streams. Unified by one brand narrative.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743200" cy="1481328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0020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City Boxes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" y="1975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₹2K–5K / box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67512" y="2267712"/>
            <a:ext cx="201168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34086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City-themed boxes sold DTC and via platform. Scales with each new city launch.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01568" y="1463040"/>
            <a:ext cx="2743200" cy="1481328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60020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95928" y="160020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Membership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1975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₹300–800 /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66160" y="2267712"/>
            <a:ext cx="201168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34086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Subscribers get deep-dive city guides, audio stories, exclusive narratives.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00216" y="1463040"/>
            <a:ext cx="2743200" cy="1481328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160020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94576" y="160020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Artisan Marketplace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64808" y="1975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20–30% commission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64808" y="2267712"/>
            <a:ext cx="201168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234086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store featuring local craftspeople. Revenue share on each sale.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127248"/>
            <a:ext cx="2743200" cy="1481328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326440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326440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Partnerships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" y="3639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₹1L–10L / project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67512" y="3931920"/>
            <a:ext cx="201168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400507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Tourism boards, heritage hotels, airlines co-creating branded cultural content.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01568" y="3127248"/>
            <a:ext cx="2743200" cy="1481328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326440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995928" y="326440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Experiences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66160" y="3639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₹15K–50K / person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566160" y="3931920"/>
            <a:ext cx="201168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400507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small-group cultural immersions — the highest margin stream.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0216" y="3127248"/>
            <a:ext cx="2743200" cy="1481328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64808" y="326440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894576" y="326440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Spaces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64808" y="3639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Long-term flagship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64808" y="3931920"/>
            <a:ext cx="201168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64808" y="400507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Airport hubs, cultural centres, Experience India destinations. Phase 4.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PROJECTIONS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 3-year view.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32588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325880"/>
            <a:ext cx="2651760" cy="969264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0" y="1417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1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217920" y="161848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₹20L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217920" y="20025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→ 500 boxes · 1 city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35040" y="2441448"/>
            <a:ext cx="2651760" cy="969264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0" y="2532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2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217920" y="273405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₹1Cr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217920" y="31181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cities · Platform live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35040" y="3557016"/>
            <a:ext cx="2651760" cy="969264"/>
          </a:xfrm>
          <a:prstGeom prst="rect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36484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E8A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3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217920" y="384962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₹2.5Cr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217920" y="42336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cities · B2B contracts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timing has never been better.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4069080" cy="150876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81328"/>
            <a:ext cx="54864" cy="1508760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645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Tourism at Record Highs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04088" y="2048256"/>
            <a:ext cx="3730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India's heritage tourism hit $32.7B in 2024 with cultural experiences as the #1 driver. The appetite for authentic India is at its peak.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18888" y="1481328"/>
            <a:ext cx="4069080" cy="150876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1481328"/>
            <a:ext cx="54864" cy="1508760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0056" y="1645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Tailwinds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0056" y="2048256"/>
            <a:ext cx="3730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2026 explicitly backed India's creator economy. Swadesh Darshan, Dekho Apna Desh and the new Creator Labs are building the ecosystem SamsKruti operates in.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172968"/>
            <a:ext cx="4069080" cy="150876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172968"/>
            <a:ext cx="54864" cy="1508760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337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Creator Economy Maturing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04088" y="3739896"/>
            <a:ext cx="3730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now has 35–45 lakh active creators and 100M+ participants. Audiences are shifting from free content to paying for trusted, curated narratives.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18888" y="3172968"/>
            <a:ext cx="4069080" cy="150876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18888" y="3172968"/>
            <a:ext cx="54864" cy="1508760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3337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+ Digital Convergence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20056" y="3739896"/>
            <a:ext cx="3730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VR/AR heritage experiences are receiving government grants. The market is actively looking for platforms that bridge physical and digital culture.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FOUNDER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 cannot ignore building this.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920240" cy="1920240"/>
          </a:xfrm>
          <a:prstGeom prst="ellipse">
            <a:avLst/>
          </a:prstGeom>
          <a:solidFill>
            <a:srgbClr val="2C1F12"/>
          </a:solidFill>
          <a:ln w="19050">
            <a:solidFill>
              <a:srgbClr val="C865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4708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3547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5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Founder &amp; Storyteller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0" y="1527048"/>
            <a:ext cx="22860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6550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grew up in Varanasi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43200" y="19476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as a tourist. As someone who sat with weavers, walked ghats at 4am, watched rituals no camera ever captures. That city is in me — and I watched it slowly stop being understood.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2404872"/>
            <a:ext cx="22860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5328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have seen what gets lost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743200" y="282549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artisan whose craft dies with him. The story behind a dish that becomes just a menu item. The ritual that becomes a photo opportunity. This is not nostalgia. It is an emergency.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3282696"/>
            <a:ext cx="22860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34107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tried to find a platform for this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743200" y="3703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searched for years. There is no place that holds India's cultural depth the way it deserves. The gap is not a market insight. It is a wound I have felt personally.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4160520"/>
            <a:ext cx="22860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428853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I am building what should exist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743200" y="458114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SamsKruti is not a startup idea I worked backwards from. It is something I could not stop thinking about — and eventually could not justify not building.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86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411480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need. What you get.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4069080" cy="1508760"/>
          </a:xfrm>
          <a:prstGeom prst="rect">
            <a:avLst/>
          </a:prstGeom>
          <a:solidFill>
            <a:srgbClr val="2C1F12"/>
          </a:solidFill>
          <a:ln w="6350">
            <a:solidFill>
              <a:srgbClr val="2C1F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6276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764792" y="16824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&amp; Content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" y="2286000"/>
            <a:ext cx="256032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414016"/>
            <a:ext cx="3675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Varanasi box production · Expanding to 3 more cities · Deep cultural research &amp; content creation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18888" y="1481328"/>
            <a:ext cx="4069080" cy="150876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0056" y="16276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80760" y="16824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Platform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0056" y="2286000"/>
            <a:ext cx="256032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0056" y="2414016"/>
            <a:ext cx="3675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and website development · QR experience infrastructure · Membership system build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172968"/>
            <a:ext cx="4069080" cy="1508760"/>
          </a:xfrm>
          <a:prstGeom prst="rect">
            <a:avLst/>
          </a:prstGeom>
          <a:solidFill>
            <a:srgbClr val="2C1F12"/>
          </a:solidFill>
          <a:ln w="6350">
            <a:solidFill>
              <a:srgbClr val="2C1F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3192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764792" y="33741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4088" y="3977640"/>
            <a:ext cx="256032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4105656"/>
            <a:ext cx="3675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C7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growth · Collaborations with YouTubers and travel creators · PR and launch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18888" y="3172968"/>
            <a:ext cx="4069080" cy="1508760"/>
          </a:xfrm>
          <a:prstGeom prst="rect">
            <a:avLst/>
          </a:prstGeom>
          <a:solidFill>
            <a:srgbClr val="F5E8DC"/>
          </a:solidFill>
          <a:ln w="6350">
            <a:solidFill>
              <a:srgbClr val="E8DD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0056" y="33192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080760" y="33741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0056" y="3977640"/>
            <a:ext cx="256032" cy="20117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0056" y="4105656"/>
            <a:ext cx="3675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4A3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building · Legal, finance, logistics setup · Mentor network expansion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0F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560320"/>
            <a:ext cx="4114800" cy="4114800"/>
          </a:xfrm>
          <a:prstGeom prst="ellipse">
            <a:avLst/>
          </a:prstGeom>
          <a:solidFill>
            <a:srgbClr val="2C1F12"/>
          </a:solidFill>
          <a:ln w="12700">
            <a:solidFill>
              <a:srgbClr val="2C1F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94360" y="2880360"/>
            <a:ext cx="3474720" cy="3474720"/>
          </a:xfrm>
          <a:prstGeom prst="ellipse">
            <a:avLst/>
          </a:prstGeom>
          <a:solidFill>
            <a:srgbClr val="281508"/>
          </a:solidFill>
          <a:ln w="12700">
            <a:solidFill>
              <a:srgbClr val="2815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SamsKruti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58368" y="15544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AF7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India's stories deserve a keeper.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19202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building the cultural memory layer of India.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2500884"/>
            <a:ext cx="1975104" cy="0"/>
          </a:xfrm>
          <a:prstGeom prst="line">
            <a:avLst/>
          </a:prstGeom>
          <a:noFill/>
          <a:ln w="6350">
            <a:solidFill>
              <a:srgbClr val="E8DD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2683764" y="2468880"/>
            <a:ext cx="64008" cy="64008"/>
          </a:xfrm>
          <a:prstGeom prst="rect">
            <a:avLst/>
          </a:prstGeom>
          <a:solidFill>
            <a:srgbClr val="C8652A"/>
          </a:solidFill>
          <a:ln w="12700">
            <a:solidFill>
              <a:srgbClr val="C865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98064" y="2500884"/>
            <a:ext cx="1975104" cy="0"/>
          </a:xfrm>
          <a:prstGeom prst="line">
            <a:avLst/>
          </a:prstGeom>
          <a:noFill/>
          <a:ln w="6350">
            <a:solidFill>
              <a:srgbClr val="E8DD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0837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Every city. One India.</a:t>
            </a:r>
          </a:p>
          <a:p>
            <a:pPr marL="0" indent="0">
              <a:buNone/>
            </a:pPr>
            <a:endParaRPr lang="en-US" sz="1400" i="1" dirty="0">
              <a:solidFill>
                <a:srgbClr val="C8652A"/>
              </a:solidFill>
              <a:latin typeface="Georgia" pitchFamily="34" charset="0"/>
            </a:endParaRPr>
          </a:p>
          <a:p>
            <a:pPr marL="0" indent="0">
              <a:buNone/>
            </a:pPr>
            <a:r>
              <a:rPr lang="en-US" sz="1400" i="1" dirty="0">
                <a:solidFill>
                  <a:srgbClr val="C8652A"/>
                </a:solidFill>
                <a:latin typeface="Georgia" pitchFamily="34" charset="0"/>
              </a:rPr>
              <a:t>If we don’t document India through its people today,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C8652A"/>
                </a:solidFill>
                <a:latin typeface="Georgia" pitchFamily="34" charset="0"/>
              </a:rPr>
              <a:t>We will only remember it through algorithms tomorrow.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44622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8C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www.samskruti.in   ·   contact@samskruti.in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4A37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 · 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1660</Words>
  <Application>Microsoft Office PowerPoint</Application>
  <PresentationFormat>On-screen Show (16:9)</PresentationFormat>
  <Paragraphs>298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SamsKruti — Investor Pitch 2026</dc:title>
  <dc:subject>PptxGenJS Presentation</dc:subject>
  <dc:creator>PptxGenJS</dc:creator>
  <cp:lastModifiedBy>Shagun Mishra</cp:lastModifiedBy>
  <cp:revision>2</cp:revision>
  <dcterms:created xsi:type="dcterms:W3CDTF">2026-04-05T19:51:13Z</dcterms:created>
  <dcterms:modified xsi:type="dcterms:W3CDTF">2026-04-05T20:25:49Z</dcterms:modified>
</cp:coreProperties>
</file>